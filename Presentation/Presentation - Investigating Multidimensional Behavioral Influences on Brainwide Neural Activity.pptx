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 Slab Black"/>
      <p:bold r:id="rId25"/>
    </p:embeddedFont>
    <p:embeddedFont>
      <p:font typeface="EB Garamond Medium"/>
      <p:regular r:id="rId26"/>
      <p:bold r:id="rId27"/>
      <p:italic r:id="rId28"/>
      <p:boldItalic r:id="rId29"/>
    </p:embeddedFont>
    <p:embeddedFont>
      <p:font typeface="EB Garamond"/>
      <p:regular r:id="rId30"/>
      <p:bold r:id="rId31"/>
      <p:italic r:id="rId32"/>
      <p:boldItalic r:id="rId33"/>
    </p:embeddedFont>
    <p:embeddedFont>
      <p:font typeface="EB Garamond ExtraBold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Medium-regular.fntdata"/><Relationship Id="rId25" Type="http://schemas.openxmlformats.org/officeDocument/2006/relationships/font" Target="fonts/RobotoSlabBlack-bold.fntdata"/><Relationship Id="rId28" Type="http://schemas.openxmlformats.org/officeDocument/2006/relationships/font" Target="fonts/EBGaramondMedium-italic.fntdata"/><Relationship Id="rId27" Type="http://schemas.openxmlformats.org/officeDocument/2006/relationships/font" Target="fonts/EBGaramond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BGaramond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BGaramond-bold.fntdata"/><Relationship Id="rId30" Type="http://schemas.openxmlformats.org/officeDocument/2006/relationships/font" Target="fonts/EBGaramond-regular.fntdata"/><Relationship Id="rId11" Type="http://schemas.openxmlformats.org/officeDocument/2006/relationships/slide" Target="slides/slide6.xml"/><Relationship Id="rId33" Type="http://schemas.openxmlformats.org/officeDocument/2006/relationships/font" Target="fonts/EBGaramond-boldItalic.fntdata"/><Relationship Id="rId10" Type="http://schemas.openxmlformats.org/officeDocument/2006/relationships/slide" Target="slides/slide5.xml"/><Relationship Id="rId32" Type="http://schemas.openxmlformats.org/officeDocument/2006/relationships/font" Target="fonts/EBGaramond-italic.fntdata"/><Relationship Id="rId13" Type="http://schemas.openxmlformats.org/officeDocument/2006/relationships/slide" Target="slides/slide8.xml"/><Relationship Id="rId35" Type="http://schemas.openxmlformats.org/officeDocument/2006/relationships/font" Target="fonts/EBGaramondExtraBold-boldItalic.fntdata"/><Relationship Id="rId12" Type="http://schemas.openxmlformats.org/officeDocument/2006/relationships/slide" Target="slides/slide7.xml"/><Relationship Id="rId34" Type="http://schemas.openxmlformats.org/officeDocument/2006/relationships/font" Target="fonts/EBGaramondExtraBo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e54c90e2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ee54c90e2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e6395dd0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e6395dd0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ee39fe539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ee39fe539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think that we should swap this slide with the next slide, for better continuity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e39fe539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e39fe539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e6395dd0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e6395dd0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e6395dd0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e6395dd0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e39fe539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ee39fe539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e39fe53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e39fe53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ee39fe539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ee39fe539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e39fe539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ee39fe539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e7962080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e7962080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e39fe539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ee39fe539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ee39fe539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ee39fe539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ee5dca23c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ee5dca23c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e6395dd0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ee6395dd0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ee5dca23c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ee5dca23c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ee5dca23c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ee5dca23c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ee6395dd0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ee6395dd0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6.jpg"/><Relationship Id="rId5" Type="http://schemas.openxmlformats.org/officeDocument/2006/relationships/image" Target="../media/image9.jpg"/><Relationship Id="rId6" Type="http://schemas.openxmlformats.org/officeDocument/2006/relationships/image" Target="../media/image14.jpg"/><Relationship Id="rId7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4132600" y="4429700"/>
            <a:ext cx="4572900" cy="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TAs: </a:t>
            </a:r>
            <a:r>
              <a:rPr b="1" lang="en"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Amirreza Bahramani and Faezeh Shafiei</a:t>
            </a:r>
            <a:endParaRPr b="1"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531750" y="2116200"/>
            <a:ext cx="5391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Investigating multidimensional behavioral influences on brainwide neural activity</a:t>
            </a:r>
            <a:endParaRPr sz="3000">
              <a:solidFill>
                <a:srgbClr val="FFFFFF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593650" y="1691338"/>
            <a:ext cx="279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rPr>
              <a:t>(@ pod-Abundant Ipomea)</a:t>
            </a:r>
            <a:endParaRPr b="1" sz="1800">
              <a:solidFill>
                <a:srgbClr val="FFFFFF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530" y="286425"/>
            <a:ext cx="1811169" cy="12274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3834450" y="1691325"/>
            <a:ext cx="175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NEURONUTS</a:t>
            </a:r>
            <a:endParaRPr sz="1800">
              <a:solidFill>
                <a:srgbClr val="FFFFFF"/>
              </a:solidFill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99350" y="34150"/>
            <a:ext cx="3776049" cy="3776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2250" y="1957425"/>
            <a:ext cx="3929301" cy="3929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5850" y="0"/>
            <a:ext cx="551815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238350"/>
            <a:ext cx="4466100" cy="5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EB Garamond ExtraBold"/>
                <a:ea typeface="EB Garamond ExtraBold"/>
                <a:cs typeface="EB Garamond ExtraBold"/>
                <a:sym typeface="EB Garamond ExtraBold"/>
              </a:rPr>
              <a:t>Team Introduction</a:t>
            </a:r>
            <a:endParaRPr sz="302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713" y="2936575"/>
            <a:ext cx="1309826" cy="1342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5">
            <a:alphaModFix/>
          </a:blip>
          <a:srcRect b="19183" l="10660" r="8642" t="24771"/>
          <a:stretch/>
        </p:blipFill>
        <p:spPr>
          <a:xfrm>
            <a:off x="207151" y="933975"/>
            <a:ext cx="1454399" cy="134225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322938" y="2276225"/>
            <a:ext cx="13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Murshed Al Amin</a:t>
            </a:r>
            <a:endParaRPr b="1"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65938" y="4314975"/>
            <a:ext cx="14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Zaynab Soyokulova</a:t>
            </a:r>
            <a:endParaRPr b="1"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123500" y="2276225"/>
            <a:ext cx="14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Aryan Mohanani</a:t>
            </a:r>
            <a:endParaRPr b="1"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2151850" y="4314975"/>
            <a:ext cx="13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Sampad Debnath</a:t>
            </a:r>
            <a:endParaRPr b="1" sz="12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 rotWithShape="1">
          <a:blip r:embed="rId6">
            <a:alphaModFix/>
          </a:blip>
          <a:srcRect b="20244" l="26533" r="33993" t="54373"/>
          <a:stretch/>
        </p:blipFill>
        <p:spPr>
          <a:xfrm>
            <a:off x="2081439" y="933975"/>
            <a:ext cx="1565518" cy="1342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51726" y="2929449"/>
            <a:ext cx="1367399" cy="141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267825"/>
            <a:ext cx="223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latin typeface="EB Garamond"/>
                <a:ea typeface="EB Garamond"/>
                <a:cs typeface="EB Garamond"/>
                <a:sym typeface="EB Garamond"/>
              </a:rPr>
              <a:t>Background</a:t>
            </a:r>
            <a:endParaRPr b="1" sz="302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900" y="1228625"/>
            <a:ext cx="4454626" cy="310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132900" y="1039875"/>
            <a:ext cx="4517100" cy="3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AutoNum type="arabicPeriod"/>
            </a:pPr>
            <a:r>
              <a:rPr lang="en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Studies like Stringer et al. (2019) have demonstrated that spontaneous neural activity in the brain is structured and behaviorally driven, rather than random noise.</a:t>
            </a:r>
            <a:br>
              <a:rPr lang="en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AutoNum type="arabicPeriod"/>
            </a:pPr>
            <a:r>
              <a:rPr lang="en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Ongoing neural activity is linked to multidimensional behaviors, including running, pupil dilation, and others, suggesting a deeper interplay between internal states and brain function.</a:t>
            </a:r>
            <a:br>
              <a:rPr lang="en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EB Garamond"/>
              <a:buAutoNum type="arabicPeriod"/>
            </a:pPr>
            <a:r>
              <a:rPr lang="en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Primary sensory cortices, previously thought to be solely dedicated to sensory processing, are now understood to integrate sensory inputs with internal behavioral states.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3010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latin typeface="EB Garamond"/>
                <a:ea typeface="EB Garamond"/>
                <a:cs typeface="EB Garamond"/>
                <a:sym typeface="EB Garamond"/>
              </a:rPr>
              <a:t>Pivot Story</a:t>
            </a:r>
            <a:endParaRPr b="1" sz="302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24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-"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Initially, we wanted to see how response latencies vary across the visual cortex during visual processing and design a biological plausible neural network based on these latencies.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-"/>
            </a:pPr>
            <a:r>
              <a:rPr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Turns out, it is not possible to extract the time course of response of a neuron in a single trial in the Stringer Orientation Dataset.</a:t>
            </a:r>
            <a:endParaRPr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1550100"/>
            <a:ext cx="8520600" cy="20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54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How do spontaneous behaviors such as running and changes in pupil area modulate neural activity within specific cortical depths, and which cortical layers are most significant in encoding these behaviors?</a:t>
            </a:r>
            <a:endParaRPr b="1" sz="254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4294967295" type="title"/>
          </p:nvPr>
        </p:nvSpPr>
        <p:spPr>
          <a:xfrm>
            <a:off x="290700" y="312125"/>
            <a:ext cx="820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latin typeface="EB Garamond"/>
                <a:ea typeface="EB Garamond"/>
                <a:cs typeface="EB Garamond"/>
                <a:sym typeface="EB Garamond"/>
              </a:rPr>
              <a:t>Insights into the Behavioral Data</a:t>
            </a:r>
            <a:endParaRPr b="1" sz="302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688" y="1607101"/>
            <a:ext cx="4286249" cy="263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7062" y="1610525"/>
            <a:ext cx="4286250" cy="262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59300" y="206225"/>
            <a:ext cx="88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latin typeface="EB Garamond"/>
                <a:ea typeface="EB Garamond"/>
                <a:cs typeface="EB Garamond"/>
                <a:sym typeface="EB Garamond"/>
              </a:rPr>
              <a:t>Insights into the Behavioral and Neural Data</a:t>
            </a:r>
            <a:endParaRPr b="1" sz="3020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3">
            <a:alphaModFix/>
          </a:blip>
          <a:srcRect b="0" l="0" r="0" t="3372"/>
          <a:stretch/>
        </p:blipFill>
        <p:spPr>
          <a:xfrm>
            <a:off x="2278275" y="961187"/>
            <a:ext cx="4587449" cy="385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idx="4294967295" type="title"/>
          </p:nvPr>
        </p:nvSpPr>
        <p:spPr>
          <a:xfrm>
            <a:off x="311700" y="329550"/>
            <a:ext cx="486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EB Garamond ExtraBold"/>
                <a:ea typeface="EB Garamond ExtraBold"/>
                <a:cs typeface="EB Garamond ExtraBold"/>
                <a:sym typeface="EB Garamond ExtraBold"/>
              </a:rPr>
              <a:t>Methodology </a:t>
            </a:r>
            <a:endParaRPr sz="302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337" y="1088725"/>
            <a:ext cx="8105324" cy="358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0"/>
            <a:ext cx="8520600" cy="10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EB Garamond ExtraBold"/>
                <a:ea typeface="EB Garamond ExtraBold"/>
                <a:cs typeface="EB Garamond ExtraBold"/>
                <a:sym typeface="EB Garamond ExtraBold"/>
              </a:rPr>
              <a:t>Decoding Running Speed from Neural Activity using GLMs </a:t>
            </a:r>
            <a:endParaRPr sz="302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04172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4F94C3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GLM								     GLM with PCA</a:t>
            </a:r>
            <a:endParaRPr>
              <a:solidFill>
                <a:srgbClr val="4F94C3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88" y="1605354"/>
            <a:ext cx="4255749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8625" y="1605354"/>
            <a:ext cx="4349987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704250" y="0"/>
            <a:ext cx="7735500" cy="10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EB Garamond ExtraBold"/>
                <a:ea typeface="EB Garamond ExtraBold"/>
                <a:cs typeface="EB Garamond ExtraBold"/>
                <a:sym typeface="EB Garamond ExtraBold"/>
              </a:rPr>
              <a:t>Decoding Pupil Area from Neural Activity using GLMs</a:t>
            </a:r>
            <a:endParaRPr sz="302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30337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4F94C3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GLM								      GLM with PCA</a:t>
            </a:r>
            <a:endParaRPr>
              <a:solidFill>
                <a:srgbClr val="4F94C3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763" y="1714887"/>
            <a:ext cx="4273952" cy="3335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2288" y="1714899"/>
            <a:ext cx="4214949" cy="3335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491400" y="46300"/>
            <a:ext cx="8161200" cy="10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EB Garamond ExtraBold"/>
                <a:ea typeface="EB Garamond ExtraBold"/>
                <a:cs typeface="EB Garamond ExtraBold"/>
                <a:sym typeface="EB Garamond ExtraBold"/>
              </a:rPr>
              <a:t>Decoding Running Speed &amp; Pupil Area using Neural Nets</a:t>
            </a:r>
            <a:endParaRPr sz="302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41406"/>
            <a:ext cx="85206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4F94C3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Running Speed						      Pupil Area</a:t>
            </a:r>
            <a:endParaRPr>
              <a:solidFill>
                <a:srgbClr val="4F94C3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25" y="1633808"/>
            <a:ext cx="4324750" cy="33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1275" y="1633808"/>
            <a:ext cx="4260300" cy="3383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-131575" y="2161700"/>
            <a:ext cx="388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3D </a:t>
            </a:r>
            <a:r>
              <a:rPr b="1" lang="en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visualization</a:t>
            </a:r>
            <a:r>
              <a:rPr b="1" lang="en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endParaRPr b="1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of neurons </a:t>
            </a:r>
            <a:endParaRPr b="1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2150" y="283262"/>
            <a:ext cx="5215837" cy="457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201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EB Garamond ExtraBold"/>
                <a:ea typeface="EB Garamond ExtraBold"/>
                <a:cs typeface="EB Garamond ExtraBold"/>
                <a:sym typeface="EB Garamond ExtraBold"/>
              </a:rPr>
              <a:t>Cortical Depth Analysis for Pupil Area </a:t>
            </a:r>
            <a:endParaRPr sz="302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6036525" y="1907838"/>
            <a:ext cx="2950800" cy="20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Depth with highest R^2 value: </a:t>
            </a:r>
            <a:r>
              <a:rPr lang="en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-390</a:t>
            </a:r>
            <a:r>
              <a:rPr lang="en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μm</a:t>
            </a:r>
            <a:r>
              <a:rPr lang="en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to -350</a:t>
            </a:r>
            <a:r>
              <a:rPr lang="en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μm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Depth with lowest R^2 value:</a:t>
            </a:r>
            <a:r>
              <a:rPr lang="en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-190</a:t>
            </a:r>
            <a:r>
              <a:rPr lang="en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μm</a:t>
            </a:r>
            <a:r>
              <a:rPr lang="en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to -150</a:t>
            </a:r>
            <a:r>
              <a:rPr lang="en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μm</a:t>
            </a:r>
            <a:r>
              <a:rPr lang="en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25" y="1101000"/>
            <a:ext cx="5962302" cy="3514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6089650" y="1952200"/>
            <a:ext cx="2827800" cy="20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Depth with highest R^2 value:</a:t>
            </a:r>
            <a:r>
              <a:rPr lang="en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-270</a:t>
            </a:r>
            <a:r>
              <a:rPr lang="en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μm</a:t>
            </a:r>
            <a:r>
              <a:rPr lang="en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to -230 </a:t>
            </a:r>
            <a:r>
              <a:rPr lang="en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μm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Depth with lowest R^2 value:</a:t>
            </a:r>
            <a:r>
              <a:rPr lang="en">
                <a:solidFill>
                  <a:schemeClr val="dk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-190μm to -150 μm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201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EB Garamond ExtraBold"/>
                <a:ea typeface="EB Garamond ExtraBold"/>
                <a:cs typeface="EB Garamond ExtraBold"/>
                <a:sym typeface="EB Garamond ExtraBold"/>
              </a:rPr>
              <a:t>Cortical Depth Analysis for Running</a:t>
            </a:r>
            <a:endParaRPr sz="302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50" y="1087275"/>
            <a:ext cx="5999100" cy="3523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256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Comparative analysis </a:t>
            </a:r>
            <a:endParaRPr b="1" sz="302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397350" y="945600"/>
            <a:ext cx="8349300" cy="35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Top Performers:</a:t>
            </a:r>
            <a:endParaRPr b="1" sz="1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For pupil area: The range 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-390 to -350 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μm</a:t>
            </a: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is the top performer with an R-squared value of 0.78.</a:t>
            </a:r>
            <a:endParaRPr sz="16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For running speed: The range 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-270 to -230 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μm</a:t>
            </a: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is the top performer with an R-squared value of 0.80.</a:t>
            </a:r>
            <a:endParaRPr sz="16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Worst Performers:</a:t>
            </a:r>
            <a:endParaRPr b="1" sz="1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For both pupil area and running speed, the range 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-190 to -150 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μm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 </a:t>
            </a: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shows the lowest predictive power with R-squared values of 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0.64 and 0.70,</a:t>
            </a: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respectively.</a:t>
            </a:r>
            <a:endParaRPr sz="16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Co</a:t>
            </a:r>
            <a:r>
              <a:rPr b="1" lang="en" sz="16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μm</a:t>
            </a:r>
            <a:r>
              <a:rPr b="1" lang="en" sz="16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on Depth Ranges:</a:t>
            </a:r>
            <a:endParaRPr b="1" sz="1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The ranges 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-350 to -310 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μm</a:t>
            </a: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and 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-310 to -270 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μm</a:t>
            </a: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show relatively high R-squared values for both pupil area and running speed, indicating that these depth ranges are important for both types of spontaneous behaviors.</a:t>
            </a:r>
            <a:endParaRPr sz="16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 rotWithShape="1">
          <a:blip r:embed="rId3">
            <a:alphaModFix/>
          </a:blip>
          <a:srcRect b="0" l="4915" r="0" t="0"/>
          <a:stretch/>
        </p:blipFill>
        <p:spPr>
          <a:xfrm>
            <a:off x="4543937" y="1652100"/>
            <a:ext cx="4228239" cy="319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311700" y="1010327"/>
            <a:ext cx="8520600" cy="4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4F94C3"/>
                </a:solidFill>
                <a:latin typeface="Roboto Slab Black"/>
                <a:ea typeface="Roboto Slab Black"/>
                <a:cs typeface="Roboto Slab Black"/>
                <a:sym typeface="Roboto Slab Black"/>
              </a:rPr>
              <a:t>Running Speed			                          Pupil Area</a:t>
            </a:r>
            <a:endParaRPr>
              <a:solidFill>
                <a:srgbClr val="4F94C3"/>
              </a:solidFill>
              <a:latin typeface="Roboto Slab Black"/>
              <a:ea typeface="Roboto Slab Black"/>
              <a:cs typeface="Roboto Slab Black"/>
              <a:sym typeface="Roboto Slab Black"/>
            </a:endParaRPr>
          </a:p>
        </p:txBody>
      </p:sp>
      <p:pic>
        <p:nvPicPr>
          <p:cNvPr id="168" name="Google Shape;16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652100"/>
            <a:ext cx="3561426" cy="319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>
            <p:ph type="title"/>
          </p:nvPr>
        </p:nvSpPr>
        <p:spPr>
          <a:xfrm>
            <a:off x="150" y="0"/>
            <a:ext cx="91440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>
                <a:latin typeface="EB Garamond ExtraBold"/>
                <a:ea typeface="EB Garamond ExtraBold"/>
                <a:cs typeface="EB Garamond ExtraBold"/>
                <a:sym typeface="EB Garamond ExtraBold"/>
              </a:rPr>
              <a:t>3D Visualization of Neuron Importance in Encoding S</a:t>
            </a:r>
            <a:r>
              <a:rPr lang="en" sz="3020">
                <a:latin typeface="EB Garamond ExtraBold"/>
                <a:ea typeface="EB Garamond ExtraBold"/>
                <a:cs typeface="EB Garamond ExtraBold"/>
                <a:sym typeface="EB Garamond ExtraBold"/>
              </a:rPr>
              <a:t>pontaneous</a:t>
            </a:r>
            <a:r>
              <a:rPr lang="en" sz="3020">
                <a:latin typeface="EB Garamond ExtraBold"/>
                <a:ea typeface="EB Garamond ExtraBold"/>
                <a:cs typeface="EB Garamond ExtraBold"/>
                <a:sym typeface="EB Garamond ExtraBold"/>
              </a:rPr>
              <a:t> Behaviour (Sparse Coding) </a:t>
            </a:r>
            <a:endParaRPr sz="302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311700" y="301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Conclusion </a:t>
            </a:r>
            <a:endParaRPr b="1" sz="302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311700" y="1060200"/>
            <a:ext cx="8520600" cy="3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Majority of </a:t>
            </a: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neurons</a:t>
            </a: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 show a low coefficient of encoding spontaneous behaviour </a:t>
            </a:r>
            <a:b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</a:br>
            <a:endParaRPr sz="16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The neurons in deeper cortical layers (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-390 to -350 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μm</a:t>
            </a: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) are more effective in predicting pupil area, while neurons in mid-deep layers (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-270 to -230 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μm</a:t>
            </a: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) are more effective in predicting running speed.</a:t>
            </a:r>
            <a:b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</a:br>
            <a:endParaRPr sz="16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The superficial cortical layers (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-190 to -150 </a:t>
            </a:r>
            <a:r>
              <a:rPr lang="en" sz="1600">
                <a:solidFill>
                  <a:schemeClr val="lt1"/>
                </a:solidFill>
                <a:latin typeface="EB Garamond ExtraBold"/>
                <a:ea typeface="EB Garamond ExtraBold"/>
                <a:cs typeface="EB Garamond ExtraBold"/>
                <a:sym typeface="EB Garamond ExtraBold"/>
              </a:rPr>
              <a:t>μm</a:t>
            </a: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) have the lowest predictive power for both behaviors, suggesting that these neurons might be less involved in encoding pupil area changes and running speed.</a:t>
            </a:r>
            <a:b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</a:br>
            <a:endParaRPr sz="16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EB Garamond Medium"/>
              <a:buChar char="●"/>
            </a:pPr>
            <a:r>
              <a:rPr lang="en" sz="16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Understanding these depth-dependent variations in predictive power can provide insights into the functional organization of the visual cortex and its role in processing different spontaneous behaviors.</a:t>
            </a:r>
            <a:endParaRPr sz="2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278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Further Studies</a:t>
            </a:r>
            <a:endParaRPr b="1" sz="302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311700" y="1060200"/>
            <a:ext cx="8520600" cy="30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Deepening Understanding of Cortical Depth Involvement:</a:t>
            </a:r>
            <a:endParaRPr b="1" sz="22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 Medium"/>
              <a:buChar char="●"/>
            </a:pPr>
            <a:r>
              <a:rPr b="1" lang="en" sz="2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Investigate specific neuronal populations</a:t>
            </a:r>
            <a:br>
              <a:rPr b="1" lang="en" sz="2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</a:br>
            <a:endParaRPr b="1" sz="20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 Medium"/>
              <a:buChar char="●"/>
            </a:pPr>
            <a:r>
              <a:rPr b="1" lang="en" sz="2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Refine depth segmentation</a:t>
            </a:r>
            <a:br>
              <a:rPr lang="en" sz="20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</a:br>
            <a:r>
              <a:rPr lang="en" sz="2000">
                <a:solidFill>
                  <a:schemeClr val="lt1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	</a:t>
            </a:r>
            <a:endParaRPr sz="20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 Medium"/>
              <a:buChar char="●"/>
            </a:pPr>
            <a:r>
              <a:rPr b="1" lang="en" sz="2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Correlate depth-specific findings with anatomical and functional markers</a:t>
            </a:r>
            <a:endParaRPr sz="2000">
              <a:solidFill>
                <a:schemeClr val="lt1"/>
              </a:solidFill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375" y="0"/>
            <a:ext cx="5429249" cy="30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1"/>
          <p:cNvSpPr txBox="1"/>
          <p:nvPr>
            <p:ph type="title"/>
          </p:nvPr>
        </p:nvSpPr>
        <p:spPr>
          <a:xfrm>
            <a:off x="3729300" y="3256940"/>
            <a:ext cx="1685400" cy="16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>
                <a:latin typeface="EB Garamond ExtraBold"/>
                <a:ea typeface="EB Garamond ExtraBold"/>
                <a:cs typeface="EB Garamond ExtraBold"/>
                <a:sym typeface="EB Garamond ExtraBold"/>
              </a:rPr>
              <a:t>ধন্যবাদ!</a:t>
            </a:r>
            <a:endParaRPr sz="234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>
                <a:latin typeface="EB Garamond ExtraBold"/>
                <a:ea typeface="EB Garamond ExtraBold"/>
                <a:cs typeface="EB Garamond ExtraBold"/>
                <a:sym typeface="EB Garamond ExtraBold"/>
              </a:rPr>
              <a:t>धन्यवाद!</a:t>
            </a:r>
            <a:endParaRPr sz="234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>
                <a:latin typeface="EB Garamond ExtraBold"/>
                <a:ea typeface="EB Garamond ExtraBold"/>
                <a:cs typeface="EB Garamond ExtraBold"/>
                <a:sym typeface="EB Garamond ExtraBold"/>
              </a:rPr>
              <a:t>Rahmat!</a:t>
            </a:r>
            <a:endParaRPr sz="234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>
                <a:latin typeface="EB Garamond ExtraBold"/>
                <a:ea typeface="EB Garamond ExtraBold"/>
                <a:cs typeface="EB Garamond ExtraBold"/>
                <a:sym typeface="EB Garamond ExtraBold"/>
              </a:rPr>
              <a:t>متشکرم!</a:t>
            </a:r>
            <a:endParaRPr sz="234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>
                <a:latin typeface="EB Garamond ExtraBold"/>
                <a:ea typeface="EB Garamond ExtraBold"/>
                <a:cs typeface="EB Garamond ExtraBold"/>
                <a:sym typeface="EB Garamond ExtraBold"/>
              </a:rPr>
              <a:t>Thank You!</a:t>
            </a:r>
            <a:endParaRPr sz="2340">
              <a:latin typeface="EB Garamond ExtraBold"/>
              <a:ea typeface="EB Garamond ExtraBold"/>
              <a:cs typeface="EB Garamond ExtraBold"/>
              <a:sym typeface="EB Garamond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